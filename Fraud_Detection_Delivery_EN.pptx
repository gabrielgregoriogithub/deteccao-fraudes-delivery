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76200" cy="685800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635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005840"/>
            <a:ext cx="2743200" cy="41148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024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MACHINE LEARNING  | 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Fraud Detection
in Food Delivery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8"/>
                </a:solidFill>
              </a:rPr>
              <a:t>Comparison of Machine Learning models for identifying
fraudulent orders on food delivery platforms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23360"/>
            <a:ext cx="5029200" cy="2540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4206240"/>
            <a:ext cx="3383280" cy="777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9DD8"/>
                </a:solidFill>
              </a:rPr>
              <a:t>MODELS EVALUATED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06240"/>
            <a:ext cx="3383280" cy="777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9DD8"/>
                </a:solidFill>
              </a:rPr>
              <a:t>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462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DT, RF, XGB, LR, GB, SVM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206240"/>
            <a:ext cx="3383280" cy="777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99DD8"/>
                </a:solidFill>
              </a:rP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462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Precision  Recall  F1  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Data Science  |  PUC Minas  | 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 &amp;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5166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280160"/>
            <a:ext cx="54498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D1B2A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18488"/>
            <a:ext cx="54864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  &gt;  Online fraud through social engineering attacks</a:t>
            </a:r>
          </a:p>
          <a:p>
            <a:r>
              <a:rPr sz="1400">
                <a:solidFill>
                  <a:srgbClr val="FFFFFF"/>
                </a:solidFill>
              </a:rPr>
              <a:t>  &gt;  Fraudsters use stolen credentials to access legitimate accounts</a:t>
            </a:r>
          </a:p>
          <a:p>
            <a:r>
              <a:rPr sz="1400">
                <a:solidFill>
                  <a:srgbClr val="FFFFFF"/>
                </a:solidFill>
              </a:rPr>
              <a:t>  &gt;  Purchases made with stolen cards — no real personal data used</a:t>
            </a:r>
          </a:p>
          <a:p>
            <a:r>
              <a:rPr sz="1400">
                <a:solidFill>
                  <a:srgbClr val="FFFFFF"/>
                </a:solidFill>
              </a:rPr>
              <a:t>  &gt;  Fraudsters buy resellable items (e.g. beverages) for profit</a:t>
            </a:r>
          </a:p>
          <a:p>
            <a:r>
              <a:rPr sz="1400">
                <a:solidFill>
                  <a:srgbClr val="FFFFFF"/>
                </a:solidFill>
              </a:rPr>
              <a:t>  &gt;  Victim disputes the charge -&gt; Chargeback (CBK) hits the merchant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5760720" cy="23774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576072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280160"/>
            <a:ext cx="55412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</a:rPr>
              <a:t>Financial Impact (Brazil 2021)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18488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&gt;  BRL 5.8 Billion in blocked fraud (ClearSale)</a:t>
            </a:r>
          </a:p>
          <a:p>
            <a:r>
              <a:rPr sz="1300">
                <a:solidFill>
                  <a:srgbClr val="FFFFFF"/>
                </a:solidFill>
              </a:rPr>
              <a:t>  &gt;  Chargeback = largest financial loss in e-commerce</a:t>
            </a:r>
          </a:p>
          <a:p>
            <a:r>
              <a:rPr sz="1300">
                <a:solidFill>
                  <a:srgbClr val="FFFFFF"/>
                </a:solidFill>
              </a:rPr>
              <a:t>  &gt;  Healthy market approval rate: 95-97%</a:t>
            </a:r>
          </a:p>
          <a:p>
            <a:r>
              <a:rPr sz="1300">
                <a:solidFill>
                  <a:srgbClr val="FFFFFF"/>
                </a:solidFill>
              </a:rPr>
              <a:t>  &gt;  Acceptable CBK rate in the market: 0.7%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794760"/>
            <a:ext cx="5760720" cy="26060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3794760"/>
            <a:ext cx="576072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3840480"/>
            <a:ext cx="55412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1B2A"/>
                </a:solidFill>
              </a:rPr>
              <a:t>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78808"/>
            <a:ext cx="5577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&gt;  Train an ML model to flag potentially fraudulent orders</a:t>
            </a:r>
          </a:p>
          <a:p>
            <a:r>
              <a:rPr sz="1300">
                <a:solidFill>
                  <a:srgbClr val="FFFFFF"/>
                </a:solidFill>
              </a:rPr>
              <a:t>  &gt;  Minimize false positives (blocking legitimate orders)</a:t>
            </a:r>
          </a:p>
          <a:p>
            <a:r>
              <a:rPr sz="1300">
                <a:solidFill>
                  <a:srgbClr val="FFFFFF"/>
                </a:solidFill>
              </a:rPr>
              <a:t>  &gt;  Maximize fraud capture rate (Recall)</a:t>
            </a:r>
          </a:p>
          <a:p>
            <a:r>
              <a:rPr sz="1300">
                <a:solidFill>
                  <a:srgbClr val="FFFFFF"/>
                </a:solidFill>
              </a:rPr>
              <a:t>  &gt;  Beat the market benchmark (95% approval, 0.7% CBK)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Collected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95576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99DD8"/>
                </a:solidFill>
              </a:rPr>
              <a:t>Food delivery orders dataset  |  Feb-Mar 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834640" cy="50749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283464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2615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1B2A"/>
                </a:solidFill>
              </a:rPr>
              <a:t>Order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47088"/>
            <a:ext cx="2651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  &gt;  pedido_id  --  Unique order ID</a:t>
            </a:r>
          </a:p>
          <a:p>
            <a:r>
              <a:rPr sz="1100">
                <a:solidFill>
                  <a:srgbClr val="FFFFFF"/>
                </a:solidFill>
              </a:rPr>
              <a:t>  &gt;  pedido_valor_total  --  Amount paid</a:t>
            </a:r>
          </a:p>
          <a:p>
            <a:r>
              <a:rPr sz="1100">
                <a:solidFill>
                  <a:srgbClr val="FFFFFF"/>
                </a:solidFill>
              </a:rPr>
              <a:t>  &gt;  pedido_valor_bruto  --  Gross value (no discount)</a:t>
            </a:r>
          </a:p>
          <a:p>
            <a:r>
              <a:rPr sz="1100">
                <a:solidFill>
                  <a:srgbClr val="FFFFFF"/>
                </a:solidFill>
              </a:rPr>
              <a:t>  &gt;  pedido_item_qtd  --  Number of items</a:t>
            </a:r>
          </a:p>
          <a:p>
            <a:r>
              <a:rPr sz="1100">
                <a:solidFill>
                  <a:srgbClr val="FFFFFF"/>
                </a:solidFill>
              </a:rPr>
              <a:t>  &gt;  pedido_registro  --  Date and time</a:t>
            </a:r>
          </a:p>
          <a:p>
            <a:r>
              <a:rPr sz="1100">
                <a:solidFill>
                  <a:srgbClr val="FFFFFF"/>
                </a:solidFill>
              </a:rPr>
              <a:t>  &gt;  Dia_Da_Semana  --  Day of the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834640" cy="50749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83464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01568" y="1508760"/>
            <a:ext cx="2615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1B2A"/>
                </a:solidFill>
              </a:rPr>
              <a:t>Customer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847088"/>
            <a:ext cx="2651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  &gt;  cliente_dias_cadastro  --  Days since signup</a:t>
            </a:r>
          </a:p>
          <a:p>
            <a:r>
              <a:rPr sz="1100">
                <a:solidFill>
                  <a:srgbClr val="FFFFFF"/>
                </a:solidFill>
              </a:rPr>
              <a:t>  &gt;  cliente_dias_ultimo_pedido  --  Days since last order</a:t>
            </a:r>
          </a:p>
          <a:p>
            <a:r>
              <a:rPr sz="1100">
                <a:solidFill>
                  <a:srgbClr val="FFFFFF"/>
                </a:solidFill>
              </a:rPr>
              <a:t>  &gt;  cliente_pedidos_dinheiro_qtd  --  Cash orders count</a:t>
            </a:r>
          </a:p>
          <a:p>
            <a:r>
              <a:rPr sz="1100">
                <a:solidFill>
                  <a:srgbClr val="FFFFFF"/>
                </a:solidFill>
              </a:rPr>
              <a:t>  &gt;  cliente_pedidos_cancelados_qtd  --  Cancelled orders</a:t>
            </a:r>
          </a:p>
          <a:p>
            <a:r>
              <a:rPr sz="1100">
                <a:solidFill>
                  <a:srgbClr val="FFFFFF"/>
                </a:solidFill>
              </a:rPr>
              <a:t>  &gt;  cliente_pedidos_valormedio_seismeses  --  6-mo avg spend</a:t>
            </a:r>
          </a:p>
          <a:p>
            <a:r>
              <a:rPr sz="1100">
                <a:solidFill>
                  <a:srgbClr val="FFFFFF"/>
                </a:solidFill>
              </a:rPr>
              <a:t>  &gt;  cliente_dispositivo_plataforma  --  Device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2834640" cy="50749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283464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508760"/>
            <a:ext cx="2615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1B2A"/>
                </a:solidFill>
              </a:rPr>
              <a:t>Payment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47088"/>
            <a:ext cx="2651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  &gt;  pedidomeio_bin  --  First 6 card digits (BIN)</a:t>
            </a:r>
          </a:p>
          <a:p>
            <a:r>
              <a:rPr sz="1100">
                <a:solidFill>
                  <a:srgbClr val="FFFFFF"/>
                </a:solidFill>
              </a:rPr>
              <a:t>  &gt;  pedidomeio_nro  --  Last 6 card digits</a:t>
            </a:r>
          </a:p>
          <a:p>
            <a:r>
              <a:rPr sz="1100">
                <a:solidFill>
                  <a:srgbClr val="FFFFFF"/>
                </a:solidFill>
              </a:rPr>
              <a:t>  &gt;  subtipo  --  Card brand / subtype</a:t>
            </a:r>
          </a:p>
          <a:p>
            <a:r>
              <a:rPr sz="1100">
                <a:solidFill>
                  <a:srgbClr val="FFFFFF"/>
                </a:solidFill>
              </a:rPr>
              <a:t>  &gt;  pedidomeio_nometit  --  Name on card</a:t>
            </a:r>
          </a:p>
          <a:p>
            <a:r>
              <a:rPr sz="1100">
                <a:solidFill>
                  <a:srgbClr val="FFFFFF"/>
                </a:solidFill>
              </a:rPr>
              <a:t>  &gt;  primeiro_nome_igual  --  Name matches account?</a:t>
            </a:r>
          </a:p>
          <a:p>
            <a:r>
              <a:rPr sz="1100">
                <a:solidFill>
                  <a:srgbClr val="FFFFFF"/>
                </a:solidFill>
              </a:rPr>
              <a:t>  &gt;  bin_mp  --  Positive purchase history on BIN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463040"/>
            <a:ext cx="2834640" cy="50749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463040"/>
            <a:ext cx="283464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36608" y="1508760"/>
            <a:ext cx="26151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1B2A"/>
                </a:solidFill>
              </a:rPr>
              <a:t>Address / Access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1847088"/>
            <a:ext cx="26517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  &gt;  pedido_endereco_cidade / uf / cep</a:t>
            </a:r>
          </a:p>
          <a:p>
            <a:r>
              <a:rPr sz="1100">
                <a:solidFill>
                  <a:srgbClr val="FFFFFF"/>
                </a:solidFill>
              </a:rPr>
              <a:t>  &gt;  pedido_endereco_recorrencia  --  Address reuse count</a:t>
            </a:r>
          </a:p>
          <a:p>
            <a:r>
              <a:rPr sz="1100">
                <a:solidFill>
                  <a:srgbClr val="FFFFFF"/>
                </a:solidFill>
              </a:rPr>
              <a:t>  &gt;  UF_CPF = UF_ENTREGA  --  State consistency check</a:t>
            </a:r>
          </a:p>
          <a:p>
            <a:r>
              <a:rPr sz="1100">
                <a:solidFill>
                  <a:srgbClr val="FFFFFF"/>
                </a:solidFill>
              </a:rPr>
              <a:t>  &gt;  pedido_ip  --  IP address at purchase</a:t>
            </a:r>
          </a:p>
          <a:p>
            <a:r>
              <a:rPr sz="1100">
                <a:solidFill>
                  <a:srgbClr val="FFFFFF"/>
                </a:solidFill>
              </a:rPr>
              <a:t>  &gt;  device_mp  --  Positive history on device</a:t>
            </a:r>
          </a:p>
          <a:p>
            <a:r>
              <a:rPr sz="1100">
                <a:solidFill>
                  <a:srgbClr val="FFFFFF"/>
                </a:solidFill>
              </a:rPr>
              <a:t>  &gt;  email_mp / telefone_mp  --  Positive history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446520"/>
            <a:ext cx="11640312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437376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1B2A"/>
                </a:solidFill>
              </a:rPr>
              <a:t>  Target Variable:  </a:t>
            </a:r>
            <a:r>
              <a:rPr sz="1000" b="1" i="0" dirty="0" err="1">
                <a:solidFill>
                  <a:srgbClr val="0D1B2A"/>
                </a:solidFill>
              </a:rPr>
              <a:t>qt_cbk</a:t>
            </a:r>
            <a:r>
              <a:rPr sz="1000" b="1" i="0" dirty="0">
                <a:solidFill>
                  <a:srgbClr val="0D1B2A"/>
                </a:solidFill>
              </a:rPr>
              <a:t> = 1 (Chargeback / Fraud occurred)  |  0 (Legitimate order)   --   ~1% fraud rate in the original dataset (363,257 orders)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" y="1417320"/>
            <a:ext cx="1783080" cy="402336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" y="1417320"/>
            <a:ext cx="17830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" y="141732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9DD8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" y="1874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" y="2331720"/>
            <a:ext cx="163677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Real delivery app
data
Feb-Mar 2022
363k orders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2516" y="3319272"/>
            <a:ext cx="223520" cy="21945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15668" y="32938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8"/>
                </a:solidFill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16836" y="1417320"/>
            <a:ext cx="1783080" cy="402336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16836" y="1417320"/>
            <a:ext cx="17830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16836" y="141732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9DD8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6836" y="1874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9988" y="2331720"/>
            <a:ext cx="163677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Monetary value
formatting
Recurrence
variables per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99916" y="3319272"/>
            <a:ext cx="223520" cy="21945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73068" y="32938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8"/>
                </a:solidFill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74236" y="1417320"/>
            <a:ext cx="1783080" cy="4023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74236" y="1417320"/>
            <a:ext cx="17830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74236" y="141732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2A4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4236" y="1874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9DD8"/>
                </a:solidFill>
              </a:rPr>
              <a:t>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7388" y="2331720"/>
            <a:ext cx="163677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Exploratory
data analysis
Feature distributions
~1% fraud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7316" y="3319272"/>
            <a:ext cx="223520" cy="21945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0468" y="32938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8"/>
                </a:solidFill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1636" y="1417320"/>
            <a:ext cx="1783080" cy="4023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31636" y="1417320"/>
            <a:ext cx="17830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1636" y="141732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2A40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1636" y="1874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9DD8"/>
                </a:solidFill>
              </a:rP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4788" y="2331720"/>
            <a:ext cx="163677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One-hot encoding
Engineered variables
cancellation_rate
high_risk_hour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4716" y="3319272"/>
            <a:ext cx="223520" cy="21945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87868" y="32938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8"/>
                </a:solidFill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9036" y="1417320"/>
            <a:ext cx="1783080" cy="4023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89036" y="1417320"/>
            <a:ext cx="17830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89036" y="141732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9036" y="1874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2188" y="2331720"/>
            <a:ext cx="163677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OverSampling
UnderSampling
class_weight
scale_pos_weight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72116" y="3319272"/>
            <a:ext cx="223520" cy="219456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45268" y="329387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8"/>
                </a:solidFill>
              </a:rP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46436" y="1417320"/>
            <a:ext cx="1783080" cy="4023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346436" y="1417320"/>
            <a:ext cx="178308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46436" y="141732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AB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46436" y="18745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9DD8"/>
                </a:solidFill>
              </a:rPr>
              <a:t>MODELS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19588" y="2331720"/>
            <a:ext cx="163677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8 algorithms
tested and
compared
with full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623560"/>
            <a:ext cx="11640312" cy="822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669280"/>
            <a:ext cx="112745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Evaluation Metrics:   Precision (primary)  ·  Recall  ·  F1-Score  ·  AUC-ROC  ·  Accuracy  ·  Confusion Matrix
Split: 80% train / 20% test  (stratified)  +  Cross-Validation StratifiedKFold (k=5)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1524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99DD8"/>
                </a:solidFill>
              </a:rPr>
              <a:t>Creating and transforming variables to enrich the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577840" cy="52120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280160"/>
            <a:ext cx="535838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Engineered Variables (created)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18488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&gt;  cancellation_rate = cancellations / previous orders</a:t>
            </a:r>
          </a:p>
          <a:p>
            <a:r>
              <a:rPr sz="1300">
                <a:solidFill>
                  <a:srgbClr val="FFFFFF"/>
                </a:solidFill>
              </a:rPr>
              <a:t>  &gt;  hour  --  Order hour extracted as integer (0-23)</a:t>
            </a:r>
          </a:p>
          <a:p>
            <a:r>
              <a:rPr sz="1300">
                <a:solidFill>
                  <a:srgbClr val="FFFFFF"/>
                </a:solidFill>
              </a:rPr>
              <a:t>  &gt;  high_risk_hour  --  1 if order placed between 10pm-5am</a:t>
            </a:r>
          </a:p>
          <a:p>
            <a:r>
              <a:rPr sz="1300">
                <a:solidFill>
                  <a:srgbClr val="FFFFFF"/>
                </a:solidFill>
              </a:rPr>
              <a:t>  &gt;  new_customer  --  1 if no order history exists</a:t>
            </a:r>
          </a:p>
          <a:p>
            <a:r>
              <a:rPr sz="1300">
                <a:solidFill>
                  <a:srgbClr val="FFFFFF"/>
                </a:solidFill>
              </a:rPr>
              <a:t>  &gt;  rec_email  --  Orders from same email on the same day</a:t>
            </a:r>
          </a:p>
          <a:p>
            <a:r>
              <a:rPr sz="1300">
                <a:solidFill>
                  <a:srgbClr val="FFFFFF"/>
                </a:solidFill>
              </a:rPr>
              <a:t>  &gt;  rec_card  --  Orders from same card on the same day</a:t>
            </a:r>
          </a:p>
          <a:p>
            <a:r>
              <a:rPr sz="1300">
                <a:solidFill>
                  <a:srgbClr val="FFFFFF"/>
                </a:solidFill>
              </a:rPr>
              <a:t>  &gt;  rec_device  --  Orders from same device on the same day</a:t>
            </a:r>
          </a:p>
          <a:p>
            <a:r>
              <a:rPr sz="1300">
                <a:solidFill>
                  <a:srgbClr val="FFFFFF"/>
                </a:solidFill>
              </a:rPr>
              <a:t>  &gt;  same_address_enc  --  Binary: address used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234440"/>
            <a:ext cx="3246120" cy="246888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89320" y="1234440"/>
            <a:ext cx="324612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9048" y="1280160"/>
            <a:ext cx="30266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One-Hot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18488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&gt;  Day_Of_Week  -&gt;  7 columns</a:t>
            </a:r>
          </a:p>
          <a:p>
            <a:r>
              <a:rPr sz="1200">
                <a:solidFill>
                  <a:srgbClr val="FFFFFF"/>
                </a:solidFill>
              </a:rPr>
              <a:t>  &gt;  email_domain  -&gt;  top 20 + OTHERS</a:t>
            </a:r>
          </a:p>
          <a:p>
            <a:r>
              <a:rPr sz="1200">
                <a:solidFill>
                  <a:srgbClr val="FFFFFF"/>
                </a:solidFill>
              </a:rPr>
              <a:t>  &gt;  card_subtype (brand)  -&gt;  multiple</a:t>
            </a:r>
          </a:p>
          <a:p>
            <a:r>
              <a:rPr sz="1200">
                <a:solidFill>
                  <a:srgbClr val="FFFFFF"/>
                </a:solidFill>
              </a:rPr>
              <a:t>  &gt;  customer_device_platform</a:t>
            </a:r>
          </a:p>
          <a:p>
            <a:r>
              <a:rPr sz="1200">
                <a:solidFill>
                  <a:srgbClr val="FFFFFF"/>
                </a:solidFill>
              </a:rPr>
              <a:t>  &gt;  order_delivery_type</a:t>
            </a:r>
          </a:p>
          <a:p>
            <a:r>
              <a:rPr sz="1200">
                <a:solidFill>
                  <a:srgbClr val="FFFFFF"/>
                </a:solidFill>
              </a:rPr>
              <a:t>  &gt;  delivery_state (UF)  -&gt;  27 states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886200"/>
            <a:ext cx="5897880" cy="25603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3886200"/>
            <a:ext cx="589788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8" y="3931920"/>
            <a:ext cx="56784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Top Features Identified (Random Forest)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270248"/>
            <a:ext cx="5715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&gt;  #1  rec_email  --  Email recurrence on the same day</a:t>
            </a:r>
          </a:p>
          <a:p>
            <a:r>
              <a:rPr sz="1200">
                <a:solidFill>
                  <a:srgbClr val="FFFFFF"/>
                </a:solidFill>
              </a:rPr>
              <a:t>  &gt;  #2  bin_mp  --  Positive purchase history on card BIN</a:t>
            </a:r>
          </a:p>
          <a:p>
            <a:r>
              <a:rPr sz="1200">
                <a:solidFill>
                  <a:srgbClr val="FFFFFF"/>
                </a:solidFill>
              </a:rPr>
              <a:t>  &gt;  #3  rec_device  --  Device recurrence on the same day</a:t>
            </a:r>
          </a:p>
          <a:p>
            <a:r>
              <a:rPr sz="1200">
                <a:solidFill>
                  <a:srgbClr val="FFFFFF"/>
                </a:solidFill>
              </a:rPr>
              <a:t>  &gt;  #4  DESKTOP platform  --  Atypical purchase channel</a:t>
            </a:r>
          </a:p>
          <a:p>
            <a:r>
              <a:rPr sz="1200">
                <a:solidFill>
                  <a:srgbClr val="FFFFFF"/>
                </a:solidFill>
              </a:rPr>
              <a:t>  &gt;  #5  customer avg spend (last 6 months)</a:t>
            </a:r>
          </a:p>
          <a:p>
            <a:r>
              <a:rPr sz="1200">
                <a:solidFill>
                  <a:srgbClr val="FFFFFF"/>
                </a:solidFill>
              </a:rPr>
              <a:t>  &gt;  #6  rec_card  --  Card recurrence on the same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455664"/>
            <a:ext cx="11640312" cy="16459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D1B2A"/>
                </a:solidFill>
              </a:rPr>
              <a:t>  Total features in final model: 183 columns  (after one-hot encoding)  ·  Complete dataset, no missing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Machine Learning Models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4864" cy="118872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325880"/>
            <a:ext cx="426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9DD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53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37360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Hierarchical splits on features. max_depth=5, criterion=entropy. Starting point -- high interpretability.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280160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280160"/>
            <a:ext cx="54864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5" y="1325880"/>
            <a:ext cx="536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8C00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1353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37360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Ensemble of decision trees with bootstrap. n_estimators=100. Reduces overfitting from a single tree.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2560320"/>
            <a:ext cx="54864" cy="118872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606040"/>
            <a:ext cx="426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299DD8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33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Balanced 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017520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Same Random Forest with class_weight='balanced'. Penalizes errors on the minority class (fraud) more heavily.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560320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6208" y="2560320"/>
            <a:ext cx="54864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2606040"/>
            <a:ext cx="536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8C0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2633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Random Forest + HyperParam 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017520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RandomizedSearchCV (30 iterations, CV=3). Automatic search over n_estimators, max_depth, max_features, min_samples, bootstrap.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40479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74320" y="3840479"/>
            <a:ext cx="54864" cy="118872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886199"/>
            <a:ext cx="426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299DD8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9136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297679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Linear probabilistic model with regularization. Identifies most significant variables (p &lt; 5%).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3840479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36208" y="3840479"/>
            <a:ext cx="54864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45936" y="3886199"/>
            <a:ext cx="481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8C00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391363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4297679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Gradient Boosting with trees. scale_pos_weight=neg/pos. max_depth=9. Achieved highest Precision in study (98%).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120640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54864" cy="118872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5166360"/>
            <a:ext cx="426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299DD8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193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Gradient Boosting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577840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sklearn GradientBoostingClassifier. Trains sequential trees correcting residual error at each iteration.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5120640"/>
            <a:ext cx="5669280" cy="118872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36208" y="5120640"/>
            <a:ext cx="54864" cy="1188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45936" y="5166360"/>
            <a:ext cx="481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8C00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8" y="5193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SVM (RBF)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5577840"/>
            <a:ext cx="54498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Support Vector Machine with radial basis function kernel. class_weight='balanced'. Requires feature scaling.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Comparative Results Across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99DD8"/>
                </a:solidFill>
              </a:rPr>
              <a:t>Original dataset: 363,257 orders  |  637 frauds in test set (72,652 total)  |  Source: research data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1325880"/>
          <a:ext cx="8961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TP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FP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TN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1B2A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299D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RF + HyperParam Tuning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TCC p.31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95%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36%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53%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72,004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99.4%</a:t>
                      </a:r>
                    </a:p>
                  </a:txBody>
                  <a:tcPr>
                    <a:solidFill>
                      <a:srgbClr val="1A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TCC p.35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98%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13%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72,014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99.2%</a:t>
                      </a:r>
                    </a:p>
                  </a:txBody>
                  <a:tcPr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RF + OverSampling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TCC p.28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73%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463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14,558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57,457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79.7%</a:t>
                      </a:r>
                    </a:p>
                  </a:txBody>
                  <a:tcPr>
                    <a:solidFill>
                      <a:srgbClr val="2A1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Decision Tree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TCC p.20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63%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72,005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99.1%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TCC p.34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49%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71,993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99.1%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5166360"/>
            <a:ext cx="11640312" cy="10058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5166360"/>
            <a:ext cx="6400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193792"/>
            <a:ext cx="113659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Accuracy Paradox (imbalanced data):  with only 0.9% fraud rate, even a model that blocks ZERO frauds achieves 99.1% accuracy — so Accuracy is misleading here.
RF + OverSampling is the only model where Accuracy drops to 79.7% because it generated 14,558 false positives, blocking 20% of legitimate orders.
=&gt; Precision (fraud class) is the primary metric: how many flagged orders are truly fraudulent.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30936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8"/>
                </a:solidFill>
              </a:rPr>
              <a:t>  All confusion matrices from TCC research data    TP = Frauds correctly blocked    FP = Legitimate orders incorrectly blocked    Sorted by Precision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Class Balancing &amp; Hyperparameter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99DD8"/>
                </a:solidFill>
              </a:rPr>
              <a:t>Strategies to handle the imbalanced dataset (~0.9% fraud 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49039" cy="5166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749039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280160"/>
            <a:ext cx="35295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OverSampling (RandomOverSampler)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18488"/>
            <a:ext cx="356615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&gt;  Replicates samples from the minority class</a:t>
            </a:r>
          </a:p>
          <a:p>
            <a:r>
              <a:rPr sz="1300">
                <a:solidFill>
                  <a:srgbClr val="FFFFFF"/>
                </a:solidFill>
              </a:rPr>
              <a:t>  &gt;  Balanced training: 288,010 vs 288,010</a:t>
            </a:r>
          </a:p>
          <a:p>
            <a:r>
              <a:rPr sz="1300">
                <a:solidFill>
                  <a:srgbClr val="FFFFFF"/>
                </a:solidFill>
              </a:rPr>
              <a:t>  &gt;  Recall increased from 3% to 80%</a:t>
            </a:r>
          </a:p>
          <a:p>
            <a:r>
              <a:rPr sz="1300">
                <a:solidFill>
                  <a:srgbClr val="FFFFFF"/>
                </a:solidFill>
              </a:rPr>
              <a:t>  &gt;  Precision dropped from 63% to 2%</a:t>
            </a:r>
          </a:p>
          <a:p>
            <a:r>
              <a:rPr sz="1300">
                <a:solidFill>
                  <a:srgbClr val="FFFFFF"/>
                </a:solidFill>
              </a:rPr>
              <a:t>  &gt;  Too many legitimate orders blocked</a:t>
            </a:r>
          </a:p>
          <a:p>
            <a:r>
              <a:rPr sz="1300">
                <a:solidFill>
                  <a:srgbClr val="FFFFFF"/>
                </a:solidFill>
              </a:rPr>
              <a:t>  &gt;  -&gt; NOT a good choice for this problem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234440"/>
            <a:ext cx="3749039" cy="5166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234440"/>
            <a:ext cx="3749039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0248" y="1280160"/>
            <a:ext cx="35295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UnderSampling (RandomUnderSampler)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1618488"/>
            <a:ext cx="3566159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  &gt;  Reduces majority class to minority class size</a:t>
            </a:r>
          </a:p>
          <a:p>
            <a:r>
              <a:rPr sz="1300">
                <a:solidFill>
                  <a:srgbClr val="FFFFFF"/>
                </a:solidFill>
              </a:rPr>
              <a:t>  &gt;  Training set: 2,595 vs 2,595 orders</a:t>
            </a:r>
          </a:p>
          <a:p>
            <a:r>
              <a:rPr sz="1300">
                <a:solidFill>
                  <a:srgbClr val="FFFFFF"/>
                </a:solidFill>
              </a:rPr>
              <a:t>  &gt;  Recall: 79%  |  Precision: 2%</a:t>
            </a:r>
          </a:p>
          <a:p>
            <a:r>
              <a:rPr sz="1300">
                <a:solidFill>
                  <a:srgbClr val="FFFFFF"/>
                </a:solidFill>
              </a:rPr>
              <a:t>  &gt;  Worse results than OverSampling</a:t>
            </a:r>
          </a:p>
          <a:p>
            <a:r>
              <a:rPr sz="1300">
                <a:solidFill>
                  <a:srgbClr val="FFFFFF"/>
                </a:solidFill>
              </a:rPr>
              <a:t>  &gt;  Loses too much legitimate class information</a:t>
            </a:r>
          </a:p>
          <a:p>
            <a:r>
              <a:rPr sz="1300">
                <a:solidFill>
                  <a:srgbClr val="FFFFFF"/>
                </a:solidFill>
              </a:rPr>
              <a:t>  &gt;  -&gt; NOT a good choice for this problem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867912" cy="51663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234440"/>
            <a:ext cx="3867912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280160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RandomizedSearchCV (Hyperparameters)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618488"/>
            <a:ext cx="3685032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  &gt;  30 random parameter combinations</a:t>
            </a:r>
          </a:p>
          <a:p>
            <a:r>
              <a:rPr sz="1100">
                <a:solidFill>
                  <a:srgbClr val="FFFFFF"/>
                </a:solidFill>
              </a:rPr>
              <a:t>  &gt;  CV=3 internal folds, scoring='f1'</a:t>
            </a:r>
          </a:p>
          <a:p>
            <a:r>
              <a:rPr sz="1100">
                <a:solidFill>
                  <a:srgbClr val="FFFFFF"/>
                </a:solidFill>
              </a:rPr>
              <a:t>  &gt;  Search grid explored:</a:t>
            </a:r>
          </a:p>
          <a:p>
            <a:r>
              <a:rPr sz="1100">
                <a:solidFill>
                  <a:srgbClr val="FFFFFF"/>
                </a:solidFill>
              </a:rPr>
              <a:t>  &gt;    n_estimators: 50-2000</a:t>
            </a:r>
          </a:p>
          <a:p>
            <a:r>
              <a:rPr sz="1100">
                <a:solidFill>
                  <a:srgbClr val="FFFFFF"/>
                </a:solidFill>
              </a:rPr>
              <a:t>  &gt;    max_depth: 5 to 50 + None</a:t>
            </a:r>
          </a:p>
          <a:p>
            <a:r>
              <a:rPr sz="1100">
                <a:solidFill>
                  <a:srgbClr val="FFFFFF"/>
                </a:solidFill>
              </a:rPr>
              <a:t>  &gt;    max_features: auto, sqrt</a:t>
            </a:r>
          </a:p>
          <a:p>
            <a:r>
              <a:rPr sz="1100">
                <a:solidFill>
                  <a:srgbClr val="FFFFFF"/>
                </a:solidFill>
              </a:rPr>
              <a:t>  &gt;    min_samples_split: 2, 5, 10</a:t>
            </a:r>
          </a:p>
          <a:p>
            <a:r>
              <a:rPr sz="1100">
                <a:solidFill>
                  <a:srgbClr val="FFFFFF"/>
                </a:solidFill>
              </a:rPr>
              <a:t>  &gt;    bootstrap: True, False</a:t>
            </a:r>
          </a:p>
          <a:p>
            <a:r>
              <a:rPr sz="1100">
                <a:solidFill>
                  <a:srgbClr val="FFFFFF"/>
                </a:solidFill>
              </a:rPr>
              <a:t>  &gt;  Best parameters found:</a:t>
            </a:r>
          </a:p>
          <a:p>
            <a:r>
              <a:rPr sz="1100">
                <a:solidFill>
                  <a:srgbClr val="FFFFFF"/>
                </a:solidFill>
              </a:rPr>
              <a:t>  &gt;    n_estimators=50, bootstrap=False</a:t>
            </a:r>
          </a:p>
          <a:p>
            <a:r>
              <a:rPr sz="1100">
                <a:solidFill>
                  <a:srgbClr val="FFFFFF"/>
                </a:solidFill>
              </a:rPr>
              <a:t>  &gt;    max_features='sqrt', max_depth=None</a:t>
            </a:r>
          </a:p>
          <a:p>
            <a:r>
              <a:rPr sz="1100">
                <a:solidFill>
                  <a:srgbClr val="FFFFFF"/>
                </a:solidFill>
              </a:rPr>
              <a:t>  &gt;  -&gt; Precision 95%, Recall 36%, F1 53%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Most Important Features for Fraud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99DD8"/>
                </a:solidFill>
              </a:rPr>
              <a:t>Feature Importance -- Random Forest with OverSampling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3766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376680"/>
            <a:ext cx="4164177" cy="26416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rec_email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9912" y="1325880"/>
            <a:ext cx="628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299DD8"/>
                </a:solidFill>
              </a:rPr>
              <a:t>20.7%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Repeated emails on the same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8338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833880"/>
            <a:ext cx="3279038" cy="26416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bin_mp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2090" y="1783080"/>
            <a:ext cx="7451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299DD8"/>
                </a:solidFill>
              </a:rPr>
              <a:t>16.3%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Positive purchase history on card BIN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240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2910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291080"/>
            <a:ext cx="3319272" cy="26416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rec_device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9743" y="2240280"/>
            <a:ext cx="628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299DD8"/>
                </a:solidFill>
              </a:rPr>
              <a:t>16.5%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Repeated devices on the same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7482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748280"/>
            <a:ext cx="1046073" cy="264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978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customer_device_platform_DESKTOP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6974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5.2%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Purchase via Desktop (atypical)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154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2054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3205480"/>
            <a:ext cx="1046073" cy="264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89788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customer_avg_spend_6months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1546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Customer average ticket (last 6 months)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6626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3662680"/>
            <a:ext cx="1025956" cy="264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9788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rec_card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36118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5.1%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Repeated cards on the same 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1198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85800" y="4119880"/>
            <a:ext cx="623620" cy="26416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978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delivery_address_days_since_registered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40690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3.1%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Days since address was registered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526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45770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85800" y="4577080"/>
            <a:ext cx="543153" cy="26416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89788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email_domain_GMAIL.COM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45262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2.7%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Gmail email domain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50342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5800" y="5034280"/>
            <a:ext cx="422452" cy="26416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89788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delivery_address_recurrence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49834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2.1%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How often this address is used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" y="5440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99DD8"/>
                </a:solidFill>
              </a:rPr>
              <a:t>#10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5491480"/>
            <a:ext cx="5029200" cy="2641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85800" y="5491480"/>
            <a:ext cx="422452" cy="26416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9788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card_subtype_GOLD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5440680"/>
            <a:ext cx="530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99DD8"/>
                </a:solidFill>
              </a:rPr>
              <a:t>2.1%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4D8"/>
                </a:solidFill>
              </a:rPr>
              <a:t>Gold card subtype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6309360"/>
            <a:ext cx="1371600" cy="182880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691640" y="628192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99DD8"/>
                </a:solidFill>
              </a:rPr>
              <a:t> Top 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6309360"/>
            <a:ext cx="1371600" cy="1828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60520" y="62819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C00"/>
                </a:solidFill>
              </a:rPr>
              <a:t> Relevant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0" y="6309360"/>
            <a:ext cx="1371600" cy="18288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903720" y="62819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 Moderate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57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Conclusions &amp; Final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Food Delivery Fraud Detection  | 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40312" cy="1920240"/>
          </a:xfrm>
          <a:prstGeom prst="rect">
            <a:avLst/>
          </a:prstGeom>
          <a:solidFill>
            <a:srgbClr val="0A2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73152" cy="1920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11640312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25272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BEST MODEL: Random Forest with Hyperparameter 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64208"/>
            <a:ext cx="2651760" cy="1325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CC71"/>
                </a:solidFill>
              </a:rPr>
              <a:t>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664208"/>
            <a:ext cx="2651760" cy="1325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DD8"/>
                </a:solidFill>
              </a:rPr>
              <a:t>36%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64208"/>
            <a:ext cx="2651760" cy="1325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8C00"/>
                </a:solidFill>
              </a:rPr>
              <a:t>53%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664208"/>
            <a:ext cx="2651760" cy="1325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1691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AUC-ROC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659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0C4D8"/>
                </a:solidFill>
              </a:rPr>
              <a:t>0.96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337560"/>
            <a:ext cx="3703320" cy="3063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3337560"/>
            <a:ext cx="370332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383280"/>
            <a:ext cx="34838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Benchmark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721608"/>
            <a:ext cx="3520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&gt;  Market standard: 95% approval, 0.7% CBK rate</a:t>
            </a:r>
          </a:p>
          <a:p>
            <a:r>
              <a:rPr sz="1200">
                <a:solidFill>
                  <a:srgbClr val="FFFFFF"/>
                </a:solidFill>
              </a:rPr>
              <a:t>  &gt;  Model reached 95% Precision -- matches benchmark</a:t>
            </a:r>
          </a:p>
          <a:p>
            <a:r>
              <a:rPr sz="1200">
                <a:solidFill>
                  <a:srgbClr val="FFFFFF"/>
                </a:solidFill>
              </a:rPr>
              <a:t>  &gt;  Legitimate order approval: 99.6% (above market)</a:t>
            </a:r>
          </a:p>
          <a:p>
            <a:r>
              <a:rPr sz="1200">
                <a:solidFill>
                  <a:srgbClr val="FFFFFF"/>
                </a:solidFill>
              </a:rPr>
              <a:t>  &gt;  Recall of 36%: catches 252 out of 637 frauds</a:t>
            </a:r>
          </a:p>
          <a:p>
            <a:r>
              <a:rPr sz="1200">
                <a:solidFill>
                  <a:srgbClr val="FFFFFF"/>
                </a:solidFill>
              </a:rPr>
              <a:t>  &gt;  Model is one layer in a multi-layered defense</a:t>
            </a:r>
          </a:p>
          <a:p>
            <a:r>
              <a:rPr sz="1200">
                <a:solidFill>
                  <a:srgbClr val="FFFFFF"/>
                </a:solidFill>
              </a:rPr>
              <a:t>  &gt;  Call center validates higher-risk flagged orders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337560"/>
            <a:ext cx="3703320" cy="3063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3337560"/>
            <a:ext cx="3703320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0248" y="3383280"/>
            <a:ext cx="34838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Algorithm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721608"/>
            <a:ext cx="3520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&gt;  XGBoost: highest Precision (98%), lowest Recall (7%)</a:t>
            </a:r>
          </a:p>
          <a:p>
            <a:r>
              <a:rPr sz="1200">
                <a:solidFill>
                  <a:srgbClr val="FFFFFF"/>
                </a:solidFill>
              </a:rPr>
              <a:t>  &gt;  Balanced RF: highest Recall (80%), lowest Precision (2%)</a:t>
            </a:r>
          </a:p>
          <a:p>
            <a:r>
              <a:rPr sz="1200">
                <a:solidFill>
                  <a:srgbClr val="FFFFFF"/>
                </a:solidFill>
              </a:rPr>
              <a:t>  &gt;  Tuned RF: best overall balance (F1=53%)</a:t>
            </a:r>
          </a:p>
          <a:p>
            <a:r>
              <a:rPr sz="1200">
                <a:solidFill>
                  <a:srgbClr val="FFFFFF"/>
                </a:solidFill>
              </a:rPr>
              <a:t>  &gt;  OverSampling hurt Precision significantly</a:t>
            </a:r>
          </a:p>
          <a:p>
            <a:r>
              <a:rPr sz="1200">
                <a:solidFill>
                  <a:srgbClr val="FFFFFF"/>
                </a:solidFill>
              </a:rPr>
              <a:t>  &gt;  UnderSampling performed even worse than OverSampling</a:t>
            </a:r>
          </a:p>
          <a:p>
            <a:r>
              <a:rPr sz="1200">
                <a:solidFill>
                  <a:srgbClr val="FFFFFF"/>
                </a:solidFill>
              </a:rPr>
              <a:t>  &gt;  Logistic Regression &lt; RF and XGBoost on this problem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337560"/>
            <a:ext cx="3867912" cy="306324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20" y="3337560"/>
            <a:ext cx="3867912" cy="347472"/>
          </a:xfrm>
          <a:prstGeom prst="rect">
            <a:avLst/>
          </a:prstGeom>
          <a:solidFill>
            <a:srgbClr val="29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56448" y="3383280"/>
            <a:ext cx="364845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1B2A"/>
                </a:solidFill>
              </a:rPr>
              <a:t>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721608"/>
            <a:ext cx="368503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  &gt;  Retrain monthly to adapt to new fraud patterns</a:t>
            </a:r>
          </a:p>
          <a:p>
            <a:r>
              <a:rPr sz="1200">
                <a:solidFill>
                  <a:srgbClr val="FFFFFF"/>
                </a:solidFill>
              </a:rPr>
              <a:t>  &gt;  Add velocity checks (orders per hour per user)</a:t>
            </a:r>
          </a:p>
          <a:p>
            <a:r>
              <a:rPr sz="1200">
                <a:solidFill>
                  <a:srgbClr val="FFFFFF"/>
                </a:solidFill>
              </a:rPr>
              <a:t>  &gt;  Implement a second authentication factor</a:t>
            </a:r>
          </a:p>
          <a:p>
            <a:r>
              <a:rPr sz="1200">
                <a:solidFill>
                  <a:srgbClr val="FFFFFF"/>
                </a:solidFill>
              </a:rPr>
              <a:t>  &gt;  Integrate model score with manual review desk</a:t>
            </a:r>
          </a:p>
          <a:p>
            <a:r>
              <a:rPr sz="1200">
                <a:solidFill>
                  <a:srgbClr val="FFFFFF"/>
                </a:solidFill>
              </a:rPr>
              <a:t>  &gt;  Test LightGBM and CatBoost</a:t>
            </a:r>
          </a:p>
          <a:p>
            <a:r>
              <a:rPr sz="1200">
                <a:solidFill>
                  <a:srgbClr val="FFFFFF"/>
                </a:solidFill>
              </a:rPr>
              <a:t>  &gt;  Explore anomaly detection (Isolation Forest)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2056</Words>
  <Application>Microsoft Office PowerPoint</Application>
  <PresentationFormat>Personalizar</PresentationFormat>
  <Paragraphs>306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Gregório</cp:lastModifiedBy>
  <cp:revision>3</cp:revision>
  <dcterms:created xsi:type="dcterms:W3CDTF">2013-01-27T09:14:16Z</dcterms:created>
  <dcterms:modified xsi:type="dcterms:W3CDTF">2026-07-14T18:28:27Z</dcterms:modified>
  <cp:category/>
</cp:coreProperties>
</file>